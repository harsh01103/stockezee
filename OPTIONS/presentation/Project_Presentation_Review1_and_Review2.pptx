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HIGH-FREQUENCY OPTIONS ANALYTICS &amp; EXECUTION ENGINE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An End-to-End Derivatives Microstructure Platform in R &amp; High-Performance Python</a:t>
            </a:r>
          </a:p>
          <a:p>
            <a:br/>
            <a:pPr>
              <a:defRPr sz="1400" b="1">
                <a:solidFill>
                  <a:srgbClr val="6366F1"/>
                </a:solidFill>
              </a:defRPr>
            </a:pPr>
            <a:r>
              <a:t>Course: Data Analytics Solution using R</a:t>
            </a:r>
            <a:br/>
            <a:r>
              <a:t>Faculty Guide: Dr. Vijayalakshmi A, Associate Professor, VIT Chennai</a:t>
            </a:r>
          </a:p>
          <a:p>
            <a:pPr>
              <a:defRPr sz="1250">
                <a:solidFill>
                  <a:srgbClr val="9CA3AF"/>
                </a:solidFill>
              </a:defRPr>
            </a:pPr>
            <a:r>
              <a:t>Comprehensive Presentation Dossier: Project Plan, Review 1 (Pre-CAT1) &amp; Review 2 (Pre-CAT2)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2: PROJECT OBJECTIVES (EVALUATION RUBRIC)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 &amp; Academic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Core Academic Objectives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Develop an institutional-grade, end-to-end data analytics platform in R.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Ingest real-time Level 2 tick orderbook data directly from NSE India &amp; Upstox.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Implement Time-of-Day (TOD) robust normalization to eliminate intraday volume skew.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Compute real-time Black-Scholes partial differential equations (Delta, Gamma, Vanna).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Adhere to rigorous software engineering practices and reproducible GitHub structures.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Mapping to Faculty Evaluation Rubrics (60M)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Problem Definition &amp; Literature Review: 10 Marks (Market Maker Physics)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Dataset Selection &amp; Data Quality: 10 Marks (69.7M+ real market ticks)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EDA &amp; Visualization: 5 Marks (ggplot2 publication dark themes)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Statistical Analysis: 5 Marks (Robust Median/IQR Z-Scores &amp; PCR)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Model / Analytics Development: 10 Marks (BS Greeks &amp; Regime Switcher)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Code Quality &amp; GitHub Usage: 5 Marks (Modular /R, /data, /results)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Innovation &amp; Technical Complexity: 5 Marks (Protobuf &amp; TLS scraping)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Documentation &amp; Report: 10 Marks (Reproducible vignettes &amp; reports)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3: PROBLEM STATEMENT &amp;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Literature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ACC15"/>
                </a:solidFill>
              </a:defRPr>
            </a:pPr>
            <a:r>
              <a:t>Failure of Retail Technical Indicators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Lagging Nature: RSI, MACD, and Moving Averages are mathematically autoregressive.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Rearview Mirror Fallacy: They reflect what has happened, not forced order flow.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Choppy Market Suicide: Momentum buying in range-bound markets leads to rapid theta (time) decay.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Inadequate Microstructure Awareness: Retail tools ignore institutional bid-ask spreads and liquidity vacuums.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Institutional Market Maker Physics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Delta-Neutral Rebalancing: Market makers must continuously buy/sell futures to remain neutral.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Gamma Explosions: High Gamma forces accelerated hedging as spot moves, causing rapid spikes.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Vanna Sensitivity (dDelta / dSigma): Cross-sensitivity between volatility and underlying price reveals forced dealer liquidation.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Orderbook Imbalance: Tracking Volume-Weighted Orderbook Imbalance (VWOIM) predicts price shifts before retail charts react.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4: DATA ACQUISITION &amp;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Dataset Fetching Pipeline &amp;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Dual-Feed Ingestion Architecture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Primary Feed (Upstox WebSocket V2): Live binary Level 2 orderbook ticks via persistent WebSocket.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Protobuf Protocol: High-throughput Google Protocol Buffers deserialization in sub-milliseconds.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Subscription Universe: 62 active contracts (15 NIFTY + 15 BANKNIFTY strikes, CE + PE, + Spot ticks).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Secondary Feed (NSE India Direct): Scrapes raw /api/option-chain JSON endpoints via curl_cffi with Google Chrome TLS JA3/JA4 fingerprinting to bypass Akamai WAF.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Daily SEBI OAuth Lifecycle: Automated daily token authentication complying with 03:30 AM IST expiry.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High-Throughput Storage &amp; Telemetry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Micro-Batching Architecture: High-speed ingestion flushed every 3 seconds to disk.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Apache Parquet (.parquet): Rust-backed Polars serializes tick batches to NVMe storage.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Zero Memory Leaks: pl.scan_parquet() lazily scans lookback windows, avoiding RAM exhaustion.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Real-Time UDP Streaming: Port 5005 local datagram socket distributes decoded ticks to execution engine.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Telemetry SLA Monitoring: Median end-to-end ingestion latency under 340 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5: DATASET DESCRIPTION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Dataset: Scale, Quality &amp;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65760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Dataset Scale &amp; Coverage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Timeframe: 45 Active Market Sessions (June 18 - October 11, 2026).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Total Parquet Files: 56,966 files.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Total Market Ticks: ~69,792,000 raw tick records.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Instruments: NIFTY 50 and BANKNIFTY Index Options.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Strikes: Near-the-money ATM +/- 7 to 15 strikes.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Storage Footprint: Multi-gigabyte compressed Parquet store.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463040"/>
            <a:ext cx="676656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60020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Core Schema &amp; Microstructure Fields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timestamp / exchange_timestamp: Packet arrival vs exchange matching engine time.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underlying &amp; expiry: Symbol (NIFTY/BANKNIFTY) and weekly/monthly expiry date.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strike &amp; option_type: Strike price in INR and contract flavor (CE / PE).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spot &amp; ltp: Live underlying cash index spot and Last Traded Price.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bid &amp; ask: Best top-of-book bid and ask quotes for spread tracking.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volume &amp; oi: Cumulative session volume and Open Interest contract count.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latency_ms: Ingestion transit latency (client received time - exchange time).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record_id &amp; oi_stale: UUID audit identifier and open interest freshness flag.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missing_fields: Packet validation array certifying zero-corruption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6: DATA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Data Preprocessing Stage (7-Step Pipeline)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Data Cleaning &amp; Temporal Alignment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Step 1: Composite Key Deduplication: Retains latest tick on (timestamp, underlying, expiry, strike, option_type).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Step 2: Backward As-Of Spot Join: Aligns cash index ticks (strike=0) backward in time to option contracts.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Step 3: Flow Deltas: Computes delta_volume = vol - lag(vol) and delta_oi = oi - lag(oi).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Step 4: Dynamic Multi-Timeframe Resampling: Uses pl.group_by_dynamic() to generate clean 1m, 5m, 15m OHLCV bars.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Feature Engineering &amp; TOD Normalization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Step 5: Strike Matrix Transformation: Computes moneyness (spot/strike) and atm_distance (strike - spot).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Step 6: Time-of-Day (TOD) Robust Normalization: Calculates median &amp; IQR per session slot (HH:MM); scales volume &amp; OI into robust Z-scores clipped to [-10, +10] to eliminate U-shaped intraday skew.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Step 7: Schema Enforcement: Strict feature schema validation ensuring data integrity before model feeding.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7: EDA &amp;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Exploratory Data Analysis: Key Findings</a:t>
            </a:r>
          </a:p>
        </p:txBody>
      </p:sp>
      <p:pic>
        <p:nvPicPr>
          <p:cNvPr id="5" name="Picture 4" descr="1_open_interes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8463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Open Interest Distribution: Pinpoints Call vs Put concentration across strikes. The intersection reveals the dynamic Max Pain strike (~24,350) where option writers face minimum liability.</a:t>
            </a:r>
          </a:p>
        </p:txBody>
      </p:sp>
      <p:pic>
        <p:nvPicPr>
          <p:cNvPr id="7" name="Picture 6" descr="2_spread_vs_money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8463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Bid-Ask Spread Dynamics: Demonstrates liquidity evaporation. Tight spreads (&lt; ₹0.50) dominate ATM (K/S = 1.0), while OTM strikes widen drastically (&gt; ₹8.00), validating spread penalties.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8: QUANTITATIVE MODELS &amp; DERIVATIVES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Mathematical Models Used &amp; Why They Are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Black-Scholes-Merton Numba Engine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Why Used: Provides the exact theoretical fair value of options independent of retail emotion.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Numba @njit Compilation: Interpreted Python is too slow. Numba compiles differential equations directly to LLVM machine code for C++ level microsecond execution.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d1 &amp; d2 Probability Distributions: Normal distribution modeling probability of expiring In-The-Money.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Fair Value Gap: Compares model fair price with exchange LTP to detect retail overpricing.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Second-Order Greeks Physics (Gamma &amp; Vanna)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Why Gamma (d2C / dS2): Quantifies explosive non-linear acceleration. Used to identify breakout contracts and ban high-risk pin-risk strikes near 0DTE expiration.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Why Vanna (d2C / dS dSigma): Cross-sensitivity between volatility and underlying price. Crucial because abrupt volatility spikes force institutional market makers to execute massive futures market orders to maintain delta neutrality.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Dealer Squeeze Detection: System predicts institutional short squeezes before they appear on retail price charts.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9: REGIME SWITCHING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Dynamic Market Regime Detection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ACC15"/>
                </a:solidFill>
              </a:defRPr>
            </a:pPr>
            <a:r>
              <a:t>Why Regime Switching is Essential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Non-Stationarity of Markets: Financial time series continuously change distributions.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The Flaw of Static Bots: Breakout strategies produce catastrophic drawdowns during sideways consolidation.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Algorithmic Classifier: Heuristic evaluates trailing 5m/15m velocity and IV skew (regime_confidence 0-100).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Binary Shift: If confidence &gt; 60 or momentum &gt; 0.012, flips is_trending = True.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Dual-Personality Execution Modes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1. Momentum Mode (Directional Option Buying): Activated in trending markets. Hunts for high-Gamma breakouts (Buy CE / Buy PE). Widens stop-losses to let directional trends expand.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2. Mean Reversion Mode (Market Maker Mode): Activated in sideways chop. Buying options is mathematically toxic due to Theta bleed. The system switches to selling Defined-Risk Credit Spreads (e.g. Bear Call Spread), acting as the house to harvest retail time decay.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10: EXECUTION PHYSICS &amp;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Multi-Factor Quantitative Scoring Matrix</a:t>
            </a:r>
          </a:p>
        </p:txBody>
      </p:sp>
      <p:pic>
        <p:nvPicPr>
          <p:cNvPr id="5" name="Picture 4" descr="5_componen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Scoring Factor Rationale &amp; Weights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Directional Momentum Signal (28.9%): Primary trend vector.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Orderbook Imbalance VWOIM (19.3%): Measures depth bid-ask volume pressure.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Open Interest Flow (19.3%): Identifies aggressive institutional contract accumulation.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Macro Market Regime (13.8%): Global risk sentiment (Crude, VIX, S&amp;P 500, USDINR).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Hardware Latency Quality (9.6%): Penalizes stale ticks.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Bid-Ask Spread Penalty (9.2%): Disqualifies contracts with spread &gt; 5% to avoid negative EV slippage.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11: STATISTICAL ANALYSIS &amp;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Statistical Modeling in R using caret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Machine Learning Classifier in R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Package: R caret (Classification and REgression Training) &amp; glm.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Target Variable: is_high_conviction (Binary: Viable Trade vs Noise).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Predictor Features: confidence, spread, log_volume, z_vwoim, z_oi_flow.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Cross-Validation: 5-Fold Cross Validation optimizing Area Under ROC (AUC).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Significance Testing: Evaluates p-values to certify non-random predictive power of orderbook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Variable Importance &amp; Insights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Top Predictor: Volume-Weighted Orderbook Imbalance (VWOIM) exhibits highest z-statistic.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Flow Confirmation: delta_oi flow acceleration confirms persistent institutional momentum.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Spread Resistance: Wide spreads show strong negative coefficient, affirming our execution filters.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Reproducibility: Script saved in R/03_model_analytics.R with r_trained_model.rds export.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12: RISK MANAGEMENT &amp; CAPITAL PRESERVATION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Dynamic Risk Management: The Kelly Criterion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ACC15"/>
                </a:solidFill>
              </a:defRPr>
            </a:pPr>
            <a:r>
              <a:t>Why Kelly Criterion Scaling is Used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The Static Bet Fallacy: Fixed-lot trading guarantees mathematical ruin during statistical drawdowns.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Asymmetric Risk: Kelly allocation dynamically scales capital according to win probability and edge magnitude.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Base Risk Allocation: Baseline budget per trade (e.g. ₹1,500 for Momentum, ₹3,000 for Credit Spreads).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Drawdown Mitigation: Preserves capital during volatile regime shifts.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Dynamic Drawdown Multiplier Protocol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Level 1 Drawdown (Half-Kelly): 1 consecutive loss triggers an immediate 50% slash in trade budget.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Level 2 Drawdown (Quarter-Kelly): 2 consecutive losses triggers a 75% risk slash AND enforces a mandatory 10-minute algorithmic cooldown.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Recovery Protocol: Base-Kelly risk is restored only after a certified profitable trade.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Capital Preservation: Guarantees account survival during adverse market shocks.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13: REVIEW 1 (PRE-CAT1) SUBMISSION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Review 1 Deliverables: 2-3 Min Presentation Video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Video Structure &amp; Timing Guide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0:00 - 0:30 (Topic &amp; Problem): High-Frequency Options Microstructure in R. Explain why retail technical indicators fail and introduce dealer hedging physics.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0:30 - 1:00 (Objectives &amp; Dataset): 69.7M+ real ticks captured via Upstox WebSocket V2 and NSE TLS scrapers across 45 market sessions.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1:00 - 1:45 (Methodology &amp; R Pipeline): Ingestion, deduplication, TOD robust Z-scores, Black-Scholes Numba LLVM engine, and caret modeling.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1:45 - 2:30 (Expected Outputs &amp; Demo): Show live Open Interest Max Pain charts, spread decay graphs, and quantitative execution candidate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ACC15"/>
                </a:solidFill>
              </a:defRPr>
            </a:pPr>
            <a:r>
              <a:t>Key Faculty Questions &amp; Answers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Q: Why did you choose R? A: R provides peerless statistical rigor, ggplot2 publication graphics, and caret cross-validation tools.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Q: How do you handle non-Gaussian volume? A: We formulated Time-of-Day robust median &amp; IQR Z-scores clipped to [-10, +10].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Q: Where is your data from? A: Direct Level 2 Upstox WebSocket Protobuf binary stream and NSE India direct v3 endpoints.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14: REVIEW 2 (PRE-CAT2) STATUS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Review 2 Deliverables: Pre-CAT2 Status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Review 2 Deliverables Achieved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Data Preprocessing Certification: 126 multi-timeframe feature partitions (1m, 5m, 15m) generated and stored in data/features/.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Sample Datasets in CSV: Clean samples exported in data/raw_sample_dataset.csv and data/preprocessed_features_sample.csv.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EDA Visualizations Complete: 5 high-resolution figures produced and rendered in RStudio Plots pane.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Predictive Modeling Complete: Caret logistic classification trained and validated with 5-fold cross-validation.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Paper Trading Audit: Validated trade ideas logged in reports/executable_trade_ideas.csv.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Remaining Milestones for Final Submission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Interactive Shiny Dashboard: Deploying interactive option chain heatmap in R Shiny.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Out-of-Sample Walk-Forward Backtesting: Validating Sharpe ratio and max drawdown over 45 market sessions.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R Markdown Comprehensive Dossier: Final PDF/HTML report compilation via knitr / rmarkdown in docs/.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Final Code Audit: Zero-bug certification across all modular /R and Python pipeline scripts.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SLIDE 15: GITHUB COMPLIANCE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Mandatory GitHub Structure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Mandatory GitHub Structure Compliance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README.md: Complete objectives, setup guide, and methodology.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/data: Sample CSVs and schema documentation.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/R: Modular scripts (01_data_preprocessing.R, 02_exploratory_data_analysis.R, 03_model_analytics.R).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/docs: Comprehensive project dossier and technical reports.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/results: High-res visualization plots and model RDS outputs.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/presentation: PPTX slide deck and presentation video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Conclusion &amp; Technical Summary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End-to-End Analytics: Complete journey from exchange microsecond ticks to statistical R classification.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Scientific Edge: Replaces retail lagging technical indicators with mathematical dealer hedging physics.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Institutional Execution: Combines high-speed Python/Rust data handling with R's statistical depth.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Thank You! We welcome questions from Dr. Vijayalakshmi A and our peers.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